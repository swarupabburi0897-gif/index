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5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2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7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43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29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14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00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86" algn="l" defTabSz="91437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042D0-BD20-4BED-A818-9BF4F6FDA053}" v="1" dt="2025-03-29T15:17:39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8C614-CF6A-4A63-958C-FF7B460A5665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A1CB0-AF2A-468F-B734-86D04325B7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9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5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2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7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43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29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14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00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86" algn="l" defTabSz="9143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A1CB0-AF2A-468F-B734-86D04325B7B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8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FBC9-7242-5D31-7591-ACA1F85EB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A9A79-D958-8F52-5AFC-26217D931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8" indent="0" algn="ctr">
              <a:buNone/>
              <a:defRPr sz="2000"/>
            </a:lvl2pPr>
            <a:lvl3pPr marL="914437" indent="0" algn="ctr">
              <a:buNone/>
              <a:defRPr sz="1800"/>
            </a:lvl3pPr>
            <a:lvl4pPr marL="1371655" indent="0" algn="ctr">
              <a:buNone/>
              <a:defRPr sz="1600"/>
            </a:lvl4pPr>
            <a:lvl5pPr marL="1828873" indent="0" algn="ctr">
              <a:buNone/>
              <a:defRPr sz="1600"/>
            </a:lvl5pPr>
            <a:lvl6pPr marL="2286091" indent="0" algn="ctr">
              <a:buNone/>
              <a:defRPr sz="1600"/>
            </a:lvl6pPr>
            <a:lvl7pPr marL="2743310" indent="0" algn="ctr">
              <a:buNone/>
              <a:defRPr sz="1600"/>
            </a:lvl7pPr>
            <a:lvl8pPr marL="3200528" indent="0" algn="ctr">
              <a:buNone/>
              <a:defRPr sz="1600"/>
            </a:lvl8pPr>
            <a:lvl9pPr marL="36577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5162A-0E25-72D0-ACCF-CBA1F18C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32989-F52C-8420-250D-F035A123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5C271-8425-00FA-30E1-8AF97A5F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77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793A-0356-C1A0-61A8-08835B58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D8108-76CB-1175-9D6E-B8F1E948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C174C-D551-9F46-D955-59812C8E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0DB34-3BBB-F709-3B27-626AF7D5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F586-92A2-F510-81A2-5CC4466F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92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F02B-BEE8-4AA6-EABC-127F7BF6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63BA-CE69-0994-2F47-C7B4602F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3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9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31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52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7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173F3-71E4-0C74-EC08-34B97E25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3D697-3F69-5B1A-CBA2-D622A09C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EFD0-D990-1C56-EF6C-A5A4EA81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4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C3EE-F23A-C977-7CE8-E0320796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05581-DEC4-5B22-67E5-8E3B90D5A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0C59-3D55-3928-88CB-508260B60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80249-8F78-5D3B-5013-B1A58A4E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B3503-32E5-1138-B7CB-B5A9C46B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69D6B-3D40-6E5D-7999-2562A5AA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0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49B3-BEDA-1AD8-812A-D44D8CB7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FD3A4-3D83-5427-DA16-7BEF8010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8" indent="0">
              <a:buNone/>
              <a:defRPr sz="2000" b="1"/>
            </a:lvl2pPr>
            <a:lvl3pPr marL="914437" indent="0">
              <a:buNone/>
              <a:defRPr sz="1800" b="1"/>
            </a:lvl3pPr>
            <a:lvl4pPr marL="1371655" indent="0">
              <a:buNone/>
              <a:defRPr sz="1600" b="1"/>
            </a:lvl4pPr>
            <a:lvl5pPr marL="1828873" indent="0">
              <a:buNone/>
              <a:defRPr sz="1600" b="1"/>
            </a:lvl5pPr>
            <a:lvl6pPr marL="2286091" indent="0">
              <a:buNone/>
              <a:defRPr sz="1600" b="1"/>
            </a:lvl6pPr>
            <a:lvl7pPr marL="2743310" indent="0">
              <a:buNone/>
              <a:defRPr sz="1600" b="1"/>
            </a:lvl7pPr>
            <a:lvl8pPr marL="3200528" indent="0">
              <a:buNone/>
              <a:defRPr sz="1600" b="1"/>
            </a:lvl8pPr>
            <a:lvl9pPr marL="36577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DDDA6-E950-D89F-E591-71B05D075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C132A-05AE-E96E-E042-16F285A6D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8" indent="0">
              <a:buNone/>
              <a:defRPr sz="2000" b="1"/>
            </a:lvl2pPr>
            <a:lvl3pPr marL="914437" indent="0">
              <a:buNone/>
              <a:defRPr sz="1800" b="1"/>
            </a:lvl3pPr>
            <a:lvl4pPr marL="1371655" indent="0">
              <a:buNone/>
              <a:defRPr sz="1600" b="1"/>
            </a:lvl4pPr>
            <a:lvl5pPr marL="1828873" indent="0">
              <a:buNone/>
              <a:defRPr sz="1600" b="1"/>
            </a:lvl5pPr>
            <a:lvl6pPr marL="2286091" indent="0">
              <a:buNone/>
              <a:defRPr sz="1600" b="1"/>
            </a:lvl6pPr>
            <a:lvl7pPr marL="2743310" indent="0">
              <a:buNone/>
              <a:defRPr sz="1600" b="1"/>
            </a:lvl7pPr>
            <a:lvl8pPr marL="3200528" indent="0">
              <a:buNone/>
              <a:defRPr sz="1600" b="1"/>
            </a:lvl8pPr>
            <a:lvl9pPr marL="36577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592FD-8308-88F4-CD6E-D57C5938B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B92836-D5B2-0F1E-0105-B6DB02FA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90676-ECC6-0077-372A-2B25BDFE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B738A-3B36-7237-0FD6-D4F920DB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8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D11F-BC80-16B4-F15E-159B4B90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25421-D86E-51C1-44BE-82B09BAD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2F5C0-5628-4BFF-EFCE-BEAECF9E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90DDA-82FB-5298-0110-96B112C4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362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CFB0D-CC7C-B88F-D34E-57184B7D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ACCF6-947F-DE24-7D57-208A27B6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A7042-6DEC-C2DE-B81F-8758FA59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8B35-1513-0CBF-CEF4-E47A697D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25ED1-90C2-B685-FFEE-977CB86D1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943E-0B64-37C7-5C6A-78DFA0CB6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7" indent="0">
              <a:buNone/>
              <a:defRPr sz="1200"/>
            </a:lvl3pPr>
            <a:lvl4pPr marL="1371655" indent="0">
              <a:buNone/>
              <a:defRPr sz="1000"/>
            </a:lvl4pPr>
            <a:lvl5pPr marL="1828873" indent="0">
              <a:buNone/>
              <a:defRPr sz="1000"/>
            </a:lvl5pPr>
            <a:lvl6pPr marL="2286091" indent="0">
              <a:buNone/>
              <a:defRPr sz="1000"/>
            </a:lvl6pPr>
            <a:lvl7pPr marL="2743310" indent="0">
              <a:buNone/>
              <a:defRPr sz="1000"/>
            </a:lvl7pPr>
            <a:lvl8pPr marL="3200528" indent="0">
              <a:buNone/>
              <a:defRPr sz="1000"/>
            </a:lvl8pPr>
            <a:lvl9pPr marL="36577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EB838-E1D6-6703-0950-2694AAB7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D803-6BA6-ECDA-0379-4B4EB1F7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D85B-6100-233E-94B4-1E936495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68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3F7B-525E-1308-435E-F1ECF9A1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A9293-380E-1E27-8AAD-4E7E7E0DC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8" indent="0">
              <a:buNone/>
              <a:defRPr sz="2800"/>
            </a:lvl2pPr>
            <a:lvl3pPr marL="914437" indent="0">
              <a:buNone/>
              <a:defRPr sz="2400"/>
            </a:lvl3pPr>
            <a:lvl4pPr marL="1371655" indent="0">
              <a:buNone/>
              <a:defRPr sz="2000"/>
            </a:lvl4pPr>
            <a:lvl5pPr marL="1828873" indent="0">
              <a:buNone/>
              <a:defRPr sz="2000"/>
            </a:lvl5pPr>
            <a:lvl6pPr marL="2286091" indent="0">
              <a:buNone/>
              <a:defRPr sz="2000"/>
            </a:lvl6pPr>
            <a:lvl7pPr marL="2743310" indent="0">
              <a:buNone/>
              <a:defRPr sz="2000"/>
            </a:lvl7pPr>
            <a:lvl8pPr marL="3200528" indent="0">
              <a:buNone/>
              <a:defRPr sz="2000"/>
            </a:lvl8pPr>
            <a:lvl9pPr marL="3657746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CDB07-EDE5-BA1B-0351-2EC7AEAB1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8" indent="0">
              <a:buNone/>
              <a:defRPr sz="1400"/>
            </a:lvl2pPr>
            <a:lvl3pPr marL="914437" indent="0">
              <a:buNone/>
              <a:defRPr sz="1200"/>
            </a:lvl3pPr>
            <a:lvl4pPr marL="1371655" indent="0">
              <a:buNone/>
              <a:defRPr sz="1000"/>
            </a:lvl4pPr>
            <a:lvl5pPr marL="1828873" indent="0">
              <a:buNone/>
              <a:defRPr sz="1000"/>
            </a:lvl5pPr>
            <a:lvl6pPr marL="2286091" indent="0">
              <a:buNone/>
              <a:defRPr sz="1000"/>
            </a:lvl6pPr>
            <a:lvl7pPr marL="2743310" indent="0">
              <a:buNone/>
              <a:defRPr sz="1000"/>
            </a:lvl7pPr>
            <a:lvl8pPr marL="3200528" indent="0">
              <a:buNone/>
              <a:defRPr sz="1000"/>
            </a:lvl8pPr>
            <a:lvl9pPr marL="36577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B9575-EAAC-B0EC-99A5-D3123F61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031CA-3985-7A06-E6F1-108A3F9B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8A842-BBC2-F2DD-639D-53788662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94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016F-A6E9-E3CD-EC10-D9455423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25D5A-7254-C6FC-ACF9-AF34A209D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5F1AF-FC99-01CC-3047-F9F9A0247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047D-9011-5B33-CFD0-6365133C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EBCC-C08D-B7C3-91F6-B96B6A65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88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73E85-1FB7-E900-B9A0-8A489E074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4DC5A-8C8D-4207-EE58-F86B3EB1E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E0294-FC6A-58E6-F0D4-3DD7B01F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3003D-BB7E-A527-DEE8-691BB757C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348B7-46B6-4C26-36D3-607A1BC3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72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CBA73-3A28-0902-4F6F-58CFF871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F722B-EFAA-A5AE-9B07-55980BFFD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17B7-C4A4-B485-C4E3-5029BE4CE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93775-8E79-4BA3-92FD-BA9FDE6D69B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9A9E7-F58A-4F2E-30F4-9EB199B2D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EE5AB-D096-9766-02D5-25BB9F36E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D51A3-789A-4BB4-B432-8D9593A980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2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3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9" indent="-228609" algn="l" defTabSz="91443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7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6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4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82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1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9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37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55" indent="-228609" algn="l" defTabSz="9144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8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7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5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73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91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10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8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46" algn="l" defTabSz="9144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5B7698-8F96-EAF6-29BF-995D9B1DFC7B}"/>
              </a:ext>
            </a:extLst>
          </p:cNvPr>
          <p:cNvSpPr txBox="1"/>
          <p:nvPr/>
        </p:nvSpPr>
        <p:spPr>
          <a:xfrm>
            <a:off x="1121228" y="208861"/>
            <a:ext cx="9949544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46" b="1" dirty="0">
                <a:latin typeface="Inter"/>
              </a:rPr>
              <a:t>Emotion Detection in Healthcare: Improving Outcomes through Multimodal Analysis</a:t>
            </a:r>
            <a:endParaRPr lang="en-IN" sz="214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0C2CF-1014-E960-5FB4-2649D263BFCD}"/>
              </a:ext>
            </a:extLst>
          </p:cNvPr>
          <p:cNvSpPr txBox="1"/>
          <p:nvPr/>
        </p:nvSpPr>
        <p:spPr>
          <a:xfrm>
            <a:off x="146957" y="1525139"/>
            <a:ext cx="3537857" cy="1899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46" b="1" dirty="0">
                <a:latin typeface="Inter"/>
              </a:rPr>
              <a:t>Purpose: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develop a multimodal emotion detection system that integrates facial expressions, speech, and physiological signals to enhance emotion recognition accuracy in healthcare settings.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emotion detection is crucial for improving patient outcomes, diagnosis, and treatment.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68D37-FB0D-1097-AA59-6022AA308C0A}"/>
              </a:ext>
            </a:extLst>
          </p:cNvPr>
          <p:cNvSpPr txBox="1"/>
          <p:nvPr/>
        </p:nvSpPr>
        <p:spPr>
          <a:xfrm>
            <a:off x="190499" y="3768910"/>
            <a:ext cx="3325587" cy="200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146" b="1" dirty="0">
                <a:latin typeface="Inter"/>
              </a:rPr>
              <a:t>Materials: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FER-2013, DEAP, IEMOCAP, HUME-Vid, PhysioNet.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learning frameworks (e.g., TensorFlow,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data preprocessing libraries.</a:t>
            </a:r>
          </a:p>
          <a:p>
            <a:br>
              <a:rPr lang="en-IN" sz="2146" dirty="0"/>
            </a:br>
            <a:endParaRPr lang="en-IN" sz="214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D9045-ADAE-877B-479E-7621DD8471C1}"/>
              </a:ext>
            </a:extLst>
          </p:cNvPr>
          <p:cNvSpPr txBox="1"/>
          <p:nvPr/>
        </p:nvSpPr>
        <p:spPr>
          <a:xfrm>
            <a:off x="3842656" y="1558544"/>
            <a:ext cx="4664529" cy="466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46" b="1" dirty="0">
                <a:latin typeface="Inter"/>
              </a:rPr>
              <a:t>Methods: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Landmark extraction using </a:t>
            </a:r>
            <a:r>
              <a:rPr lang="en-IN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OpenFace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facial feature identification..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Mel-Frequency Cepstral Coefficients (MFCCs) for audio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Removal of artifacts from physiological signals (e.g., EEG, heart rate).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split: 80% training, 10% validation, 10% testing.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 labels: Happiness, sadness, anger, fear, disgust, and surprise.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ResNet-50 and VGG-16 for facial expression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 and Transformer models for audio emotion detection.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1D CNN with Bi-LSTM for </a:t>
            </a:r>
            <a:r>
              <a:rPr lang="en-IN" sz="1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physiological signals.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precision/recall, and F1-score to assess model performance.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 (paired t-tests, ANOVA) to validate results and emotion heatmaps to visualize emotional responses.</a:t>
            </a:r>
          </a:p>
          <a:p>
            <a:pPr algn="l"/>
            <a:endParaRPr lang="en-US" sz="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9C1127-7A62-23FB-40E4-AF57BA0BA851}"/>
              </a:ext>
            </a:extLst>
          </p:cNvPr>
          <p:cNvSpPr txBox="1"/>
          <p:nvPr/>
        </p:nvSpPr>
        <p:spPr>
          <a:xfrm>
            <a:off x="8675914" y="1409025"/>
            <a:ext cx="3369128" cy="237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46" b="1" dirty="0">
                <a:latin typeface="Inter"/>
              </a:rPr>
              <a:t>Results: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an overall accuracy of </a:t>
            </a: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91.5%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outperforming single-modality models.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EEG-based emotion classification model demonstrated higher accuracy than facial or speech models alone, highlighting the strong correlation between neural signals and emotions.</a:t>
            </a:r>
          </a:p>
          <a:p>
            <a:br>
              <a:rPr lang="en-US" sz="2146" dirty="0"/>
            </a:br>
            <a:endParaRPr lang="en-IN" sz="214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CE210C-E4DA-301A-9D53-F805F4970302}"/>
              </a:ext>
            </a:extLst>
          </p:cNvPr>
          <p:cNvSpPr txBox="1"/>
          <p:nvPr/>
        </p:nvSpPr>
        <p:spPr>
          <a:xfrm>
            <a:off x="8594271" y="3638957"/>
            <a:ext cx="345077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Inter"/>
              </a:rPr>
              <a:t>Conclusions: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multimodal emotion detection system shows promise in enhancing patient monitoring, diagnosis, and treatment outcomes.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Provides a more objective assessment of emotional states, facilitating timely interventions by healthcare providers.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Future work will address limitations such as dataset bias and computational requirements for real-time applications.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279E8B-C010-29E9-308C-CE6B40B3EE6B}"/>
              </a:ext>
            </a:extLst>
          </p:cNvPr>
          <p:cNvSpPr txBox="1"/>
          <p:nvPr/>
        </p:nvSpPr>
        <p:spPr>
          <a:xfrm>
            <a:off x="881743" y="601809"/>
            <a:ext cx="104285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				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Phanikumar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Akkenapalli</a:t>
            </a:r>
            <a:r>
              <a:rPr lang="en-IN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Department of Computer Science) Rivier University) Nashua,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HamNewpshire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pakkenapalli@rivier.edu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183256-58EF-E00A-380A-251848883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3" y="6029118"/>
            <a:ext cx="786493" cy="74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021 National Council of University Research Administrators ...">
            <a:extLst>
              <a:ext uri="{FF2B5EF4-FFF2-40B4-BE49-F238E27FC236}">
                <a16:creationId xmlns:a16="http://schemas.microsoft.com/office/drawing/2014/main" id="{14315F4C-6621-E01D-B6A2-D1491DAA7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15" y="6029118"/>
            <a:ext cx="793103" cy="74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8C587CC0-CE85-3CD4-63DD-9D5B5EF19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772" y="5960049"/>
            <a:ext cx="745740" cy="80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2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353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Inter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Harshad Hafeez, Panem (Cognizant)</dc:creator>
  <cp:lastModifiedBy>Rudra Manikanta abburi</cp:lastModifiedBy>
  <cp:revision>2</cp:revision>
  <dcterms:created xsi:type="dcterms:W3CDTF">2025-03-28T10:36:30Z</dcterms:created>
  <dcterms:modified xsi:type="dcterms:W3CDTF">2025-12-08T06:10:50Z</dcterms:modified>
</cp:coreProperties>
</file>